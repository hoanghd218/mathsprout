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8F5E9"/>
            </a:gs>
            <a:gs pos="100000">
              <a:srgbClr val="C8E6C9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1B5E20"/>
                </a:solidFill>
                <a:latin typeface="Segoe UI"/>
              </a:defRPr>
            </a:pPr>
            <a:r>
              <a:t>🌱 MathSprout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2E7D32"/>
                </a:solidFill>
                <a:latin typeface="Segoe UI"/>
              </a:defRPr>
            </a:pPr>
            <a:r>
              <a:t>Ứng dụng học Toán có trợ lý AI cho học sinh tiểu học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0040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6F00"/>
                </a:solidFill>
                <a:latin typeface="Segoe UI"/>
              </a:defRPr>
            </a:pPr>
            <a:r>
              <a:t>"10 phút mỗi ngày — Tiến bộ lớn cả năm!"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023360"/>
            <a:ext cx="2103120" cy="381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43891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33333"/>
                </a:solidFill>
                <a:latin typeface="Segoe UI"/>
              </a:defRPr>
            </a:pPr>
            <a:r>
              <a:t>Trần Nhật Minh — Lớp 2, V-school Ocean Park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666666"/>
                </a:solidFill>
                <a:latin typeface="Segoe UI"/>
              </a:defRPr>
            </a:pPr>
            <a:r>
              <a:t>STEMFEST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4864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66666"/>
                </a:solidFill>
                <a:latin typeface="Segoe UI"/>
              </a:defRPr>
            </a:pPr>
            <a:r>
              <a:t>Chủ đề: "Our World, Our Responsibility"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FFFFF"/>
            </a:gs>
            <a:gs pos="100000">
              <a:srgbClr val="FCE4EC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B5E20"/>
                </a:solidFill>
                <a:latin typeface="Segoe UI"/>
              </a:defRPr>
            </a:pPr>
            <a:r>
              <a:t>1️⃣  Vấn đề thực tế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5303520" cy="4754880"/>
          </a:xfrm>
          <a:prstGeom prst="roundRect">
            <a:avLst/>
          </a:prstGeom>
          <a:solidFill>
            <a:srgbClr val="FF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Segoe UI"/>
              </a:defRPr>
            </a:pPr>
            <a:r>
              <a:t>😔 Khi em học Toán...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  <a:latin typeface="Segoe UI"/>
              </a:defRPr>
            </a:pPr>
            <a:r>
              <a:t>📚  Có nhiều bài em không hiểu được luôn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  <a:latin typeface="Segoe UI"/>
              </a:defRPr>
            </a:pPr>
            <a:r>
              <a:t>🏠  Về nhà có rất nhiều bài tập khó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  <a:latin typeface="Segoe UI"/>
              </a:defRPr>
            </a:pPr>
            <a:r>
              <a:t>👨‍👩‍👧  Bố mẹ rất bận đi làm, không kèm được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  <a:latin typeface="Segoe UI"/>
              </a:defRPr>
            </a:pPr>
            <a:r>
              <a:t>🧑‍🏫  Cách giải của người lớn ≠ cách học sinh lớp 2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  <a:latin typeface="Segoe UI"/>
              </a:defRPr>
            </a:pPr>
            <a:r>
              <a:t>👫  Nhiều bạn trong lớp cũng thấy Toán khó nhất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303520" cy="4754880"/>
          </a:xfrm>
          <a:prstGeom prst="roundRect">
            <a:avLst/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554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6F00"/>
                </a:solidFill>
                <a:latin typeface="Segoe UI"/>
              </a:defRPr>
            </a:pPr>
            <a:r>
              <a:t>💬 Khảo sát bạn cùng lớp: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28600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666666"/>
                </a:solidFill>
                <a:latin typeface="Segoe UI"/>
              </a:defRPr>
            </a:pPr>
            <a:r>
              <a:t>"Khi không hiểu bài, em không biết hỏi ai"</a:t>
            </a:r>
          </a:p>
          <a:p>
            <a:pPr>
              <a:spcAft>
                <a:spcPts val="600"/>
              </a:spcAft>
              <a:defRPr sz="2000">
                <a:solidFill>
                  <a:srgbClr val="666666"/>
                </a:solidFill>
                <a:latin typeface="Segoe UI"/>
              </a:defRPr>
            </a:pPr>
            <a:r>
              <a:t>"Bố mẹ giải nhanh quá, em càng không hiểu"</a:t>
            </a:r>
          </a:p>
          <a:p>
            <a:pPr>
              <a:spcAft>
                <a:spcPts val="600"/>
              </a:spcAft>
              <a:defRPr sz="2000">
                <a:solidFill>
                  <a:srgbClr val="666666"/>
                </a:solidFill>
                <a:latin typeface="Segoe UI"/>
              </a:defRPr>
            </a:pPr>
            <a:r>
              <a:t>"Toán là môn khó nhất!"</a:t>
            </a:r>
          </a:p>
          <a:p>
            <a:pPr>
              <a:spcAft>
                <a:spcPts val="600"/>
              </a:spcAft>
              <a:defRPr sz="2000">
                <a:solidFill>
                  <a:srgbClr val="666666"/>
                </a:solidFill>
                <a:latin typeface="Segoe UI"/>
              </a:defRPr>
            </a:pPr>
            <a:r>
              <a:t>"Gõ bài Toán bằng bàn phím rất khó"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484632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5E20"/>
                </a:solidFill>
                <a:latin typeface="Segoe UI"/>
              </a:defRPr>
            </a:pPr>
            <a:r>
              <a:t>→ Toán là nền tảng cho mọi môn</a:t>
            </a:r>
            <a:br/>
            <a:r>
              <a:t>→ Cần "người bạn" luôn sẵn sàng giúp đỡ!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FFFFF"/>
            </a:gs>
            <a:gs pos="100000">
              <a:srgbClr val="E8F5E9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B5E20"/>
                </a:solidFill>
                <a:latin typeface="Segoe UI"/>
              </a:defRPr>
            </a:pPr>
            <a:r>
              <a:t>2️⃣  Giải pháp — MathSprout 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9728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565C0"/>
                </a:solidFill>
                <a:latin typeface="Segoe UI"/>
              </a:defRPr>
            </a:pPr>
            <a:r>
              <a:t>"Tại sao mình không có một bạn trợ lý AI luôn sẵn sàng giúp các bạn nhỏ học Toán?"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03120"/>
            <a:ext cx="320040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0">
                <a:solidFill>
                  <a:srgbClr val="333333"/>
                </a:solidFill>
                <a:latin typeface="Segoe UI"/>
              </a:defRPr>
            </a:pPr>
            <a:r>
              <a:t>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B5E20"/>
                </a:solidFill>
                <a:latin typeface="Segoe UI"/>
              </a:defRPr>
            </a:pPr>
            <a:r>
              <a:t>Không bao giờ bận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7472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66666"/>
                </a:solidFill>
                <a:latin typeface="Segoe UI"/>
              </a:defRPr>
            </a:pPr>
            <a:r>
              <a:t>Bạn Sprout luôn sẵn sàng</a:t>
            </a:r>
            <a:br/>
            <a:r>
              <a:t>24/7, bất kỳ lúc nào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103120"/>
            <a:ext cx="320040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2860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0">
                <a:solidFill>
                  <a:srgbClr val="333333"/>
                </a:solidFill>
                <a:latin typeface="Segoe UI"/>
              </a:defRPr>
            </a:pPr>
            <a:r>
              <a:t>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9260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B5E20"/>
                </a:solidFill>
                <a:latin typeface="Segoe UI"/>
              </a:defRPr>
            </a:pPr>
            <a:r>
              <a:t>Luôn kiên nhẫn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47472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66666"/>
                </a:solidFill>
                <a:latin typeface="Segoe UI"/>
              </a:defRPr>
            </a:pPr>
            <a:r>
              <a:t>Giải thích lại bao nhiêu</a:t>
            </a:r>
            <a:br/>
            <a:r>
              <a:t>lần cũng được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103120"/>
            <a:ext cx="320040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22860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0">
                <a:solidFill>
                  <a:srgbClr val="333333"/>
                </a:solidFill>
                <a:latin typeface="Segoe UI"/>
              </a:defRPr>
            </a:pPr>
            <a:r>
              <a:t>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9260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B5E20"/>
                </a:solidFill>
                <a:latin typeface="Segoe UI"/>
              </a:defRPr>
            </a:pPr>
            <a:r>
              <a:t>Nói theo cách của 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47472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66666"/>
                </a:solidFill>
                <a:latin typeface="Segoe UI"/>
              </a:defRPr>
            </a:pPr>
            <a:r>
              <a:t>Dùng ngôn ngữ lớp 1-3</a:t>
            </a:r>
            <a:br/>
            <a:r>
              <a:t>không phải người lớn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4754880"/>
            <a:ext cx="6675120" cy="1371600"/>
          </a:xfrm>
          <a:prstGeom prst="roundRect">
            <a:avLst/>
          </a:prstGeom>
          <a:solidFill>
            <a:srgbClr val="F1F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4937760"/>
            <a:ext cx="6126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B5E20"/>
                </a:solidFill>
                <a:latin typeface="Segoe UI"/>
              </a:defRPr>
            </a:pPr>
            <a:r>
              <a:t>🌱 Sprout = Mầm Cây</a:t>
            </a:r>
            <a:br/>
            <a:r>
              <a:t>Bạn ấy giúp kiến thức của em lớn lên mỗi ngày!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FFFFF"/>
            </a:gs>
            <a:gs pos="100000">
              <a:srgbClr val="E8F5E9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B5E20"/>
                </a:solidFill>
                <a:latin typeface="Segoe UI"/>
              </a:defRPr>
            </a:pPr>
            <a:r>
              <a:t>3️⃣  Sản phẩm — 3 phần chính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280160"/>
            <a:ext cx="5669280" cy="5029200"/>
          </a:xfrm>
          <a:prstGeom prst="roundRect">
            <a:avLst/>
          </a:prstGeom>
          <a:solidFill>
            <a:srgbClr val="E3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565C0"/>
                </a:solidFill>
                <a:latin typeface="Segoe UI"/>
              </a:defRPr>
            </a:pPr>
            <a:r>
              <a:t>1️⃣  11 dạng bài tập Toán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2560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Phép cộng, trừ, nhân, chia</a:t>
            </a:r>
            <a:br/>
            <a:r>
              <a:t>• Đo lường, hình học, phân số</a:t>
            </a:r>
            <a:br/>
            <a:r>
              <a:t>• Lớp 1 đến lớp 5</a:t>
            </a:r>
            <a:br/>
            <a:r>
              <a:t>• Song ngữ Anh-Việt 🇬🇧🇻🇳</a:t>
            </a:r>
            <a:br/>
            <a:r>
              <a:t>• Nút đọc to 🔊</a:t>
            </a:r>
          </a:p>
        </p:txBody>
      </p:sp>
      <p:pic>
        <p:nvPicPr>
          <p:cNvPr id="6" name="Picture 5" descr="mathsprout_practice_17784075392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828800"/>
            <a:ext cx="2743200" cy="15280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309360" y="1280160"/>
            <a:ext cx="5486400" cy="5029200"/>
          </a:xfrm>
          <a:prstGeom prst="round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B5E20"/>
                </a:solidFill>
                <a:latin typeface="Segoe UI"/>
              </a:defRPr>
            </a:pPr>
            <a:r>
              <a:t>2️⃣  AI Sprout Assistant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Segoe UI"/>
              </a:defRPr>
            </a:pPr>
            <a:r>
              <a:t>• Chụp ảnh đề bài 📷</a:t>
            </a:r>
            <a:br/>
            <a:r>
              <a:t>• Hoặc gõ câu hỏi</a:t>
            </a:r>
            <a:br/>
            <a:r>
              <a:t>• Giải thích từng bước</a:t>
            </a:r>
            <a:br/>
            <a:r>
              <a:t>• Đọc to Anh + Việt</a:t>
            </a:r>
            <a:br/>
            <a:r>
              <a:t>• Kiên nhẫn, không vội</a:t>
            </a:r>
          </a:p>
        </p:txBody>
      </p:sp>
      <p:pic>
        <p:nvPicPr>
          <p:cNvPr id="10" name="Picture 9" descr="mathsprout_ai_chat_17784075753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1828800"/>
            <a:ext cx="2743200" cy="1528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0" y="594360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6F00"/>
                </a:solidFill>
                <a:latin typeface="Segoe UI"/>
              </a:defRPr>
            </a:pPr>
            <a:r>
              <a:t>3️⃣  Trợ lý gia sư thông minh: Ghi nhớ bài sai → Gợi ý luyện đúng chỗ yếu → Tiến bộ nhanh hơn!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FFFFF"/>
            </a:gs>
            <a:gs pos="100000">
              <a:srgbClr val="E8F5E9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B5E20"/>
                </a:solidFill>
                <a:latin typeface="Segoe UI"/>
              </a:defRPr>
            </a:pPr>
            <a:r>
              <a:t>3️⃣  Demo App — Dashboard &amp; Skill Map</a:t>
            </a:r>
          </a:p>
        </p:txBody>
      </p:sp>
      <p:pic>
        <p:nvPicPr>
          <p:cNvPr id="3" name="Picture 2" descr="mathsprout_dashboard_17784075089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303520" cy="29542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6692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B5E20"/>
                </a:solidFill>
                <a:latin typeface="Segoe UI"/>
              </a:defRPr>
            </a:pPr>
            <a:r>
              <a:t>🏠 Dashboard — Mầm cây, Streak, XP</a:t>
            </a:r>
          </a:p>
        </p:txBody>
      </p:sp>
      <p:pic>
        <p:nvPicPr>
          <p:cNvPr id="5" name="Picture 4" descr="mathsprout_skill_map_17784076134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303520" cy="29542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56692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B5E20"/>
                </a:solidFill>
                <a:latin typeface="Segoe UI"/>
              </a:defRPr>
            </a:pPr>
            <a:r>
              <a:t>📊 Skill Map — Bản đồ kỹ năng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FFFFF"/>
            </a:gs>
            <a:gs pos="100000">
              <a:srgbClr val="E8F5E9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B5E20"/>
                </a:solidFill>
                <a:latin typeface="Segoe UI"/>
              </a:defRPr>
            </a:pPr>
            <a:r>
              <a:t>3️⃣  Demo AI — Hỏi đáp với Sprout 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058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66666"/>
                </a:solidFill>
                <a:latin typeface="Segoe UI"/>
              </a:defRPr>
            </a:pPr>
            <a:r>
              <a:t>Em hỏi → Sprout giải thích từng bước bằng cả tiếng Anh và tiếng Việt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645920"/>
            <a:ext cx="5669280" cy="4754880"/>
          </a:xfrm>
          <a:prstGeom prst="roundRect">
            <a:avLst/>
          </a:prstGeom>
          <a:solidFill>
            <a:srgbClr val="E3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565C0"/>
                </a:solidFill>
                <a:latin typeface="Segoe UI"/>
              </a:defRPr>
            </a:pPr>
            <a:r>
              <a:t>💬 "How do I add 27 + 35?"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Segoe UI"/>
              </a:defRPr>
            </a:pPr>
            <a:r>
              <a:t>Sprout giải thích cộng hàng chục rồi hàng đơn vị,</a:t>
            </a:r>
            <a:br/>
            <a:r>
              <a:t>dùng cách đếm ngón tay — song ngữ Anh-Việt</a:t>
            </a:r>
          </a:p>
        </p:txBody>
      </p:sp>
      <p:pic>
        <p:nvPicPr>
          <p:cNvPr id="7" name="Picture 6" descr="ai_demo_question1_17784082939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017520"/>
            <a:ext cx="5029200" cy="280142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09360" y="1645920"/>
            <a:ext cx="5486400" cy="4754880"/>
          </a:xfrm>
          <a:prstGeom prst="round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7373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F00"/>
                </a:solidFill>
                <a:latin typeface="Segoe UI"/>
              </a:defRPr>
            </a:pPr>
            <a:r>
              <a:t>💬 "What's a fraction?"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2860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Segoe UI"/>
              </a:defRPr>
            </a:pPr>
            <a:r>
              <a:t>Sprout dùng ví dụ pizza 🍕 và bánh kem 🎂</a:t>
            </a:r>
            <a:br/>
            <a:r>
              <a:t>để giải thích phân số — rất dễ hiểu!</a:t>
            </a:r>
          </a:p>
        </p:txBody>
      </p:sp>
      <p:pic>
        <p:nvPicPr>
          <p:cNvPr id="11" name="Picture 10" descr="ai_demo_question2_17784085058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3017520"/>
            <a:ext cx="4846320" cy="26995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FFFFF"/>
            </a:gs>
            <a:gs pos="100000">
              <a:srgbClr val="E3F2FD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B5E20"/>
                </a:solidFill>
                <a:latin typeface="Segoe UI"/>
              </a:defRPr>
            </a:pPr>
            <a:r>
              <a:t>4️⃣  Thử nghiệm &amp; Cải tiến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972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66666"/>
                </a:solidFill>
                <a:latin typeface="Segoe UI"/>
              </a:defRPr>
            </a:pPr>
            <a:r>
              <a:t>Thử app với chính em và các bạn trong lớp trong 1 tuần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3200400" cy="2926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103120" y="2194560"/>
            <a:ext cx="731520" cy="73152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B5E20"/>
                </a:solidFill>
                <a:latin typeface="Segoe UI"/>
              </a:defRPr>
            </a:pPr>
            <a:r>
              <a:t>🔊 Thêm nút đọc 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66666"/>
                </a:solidFill>
                <a:latin typeface="Segoe UI"/>
              </a:defRPr>
            </a:pPr>
            <a:r>
              <a:t>Có bạn chưa đọc nhanh được</a:t>
            </a:r>
            <a:br/>
            <a:r>
              <a:t>→ Bấm nút nghe đọc 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011680"/>
            <a:ext cx="3200400" cy="2926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760720" y="2194560"/>
            <a:ext cx="731520" cy="73152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1089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B5E20"/>
                </a:solidFill>
                <a:latin typeface="Segoe UI"/>
              </a:defRPr>
            </a:pPr>
            <a:r>
              <a:t>🇬🇧🇻🇳 Chế độ song ngữ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6576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66666"/>
                </a:solidFill>
                <a:latin typeface="Segoe UI"/>
              </a:defRPr>
            </a:pPr>
            <a:r>
              <a:t>Các bạn trường quốc tế</a:t>
            </a:r>
            <a:br/>
            <a:r>
              <a:t>cũng dùng được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2011680"/>
            <a:ext cx="3200400" cy="29260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18320" y="2194560"/>
            <a:ext cx="731520" cy="73152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1089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B5E20"/>
                </a:solidFill>
                <a:latin typeface="Segoe UI"/>
              </a:defRPr>
            </a:pPr>
            <a:r>
              <a:t>📷 Chụp ảnh đề bài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6576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66666"/>
                </a:solidFill>
                <a:latin typeface="Segoe UI"/>
              </a:defRPr>
            </a:pPr>
            <a:r>
              <a:t>Gõ bài Toán bằng bàn phím</a:t>
            </a:r>
            <a:br/>
            <a:r>
              <a:t>rất khó → chụp ảnh nhanh hơn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3035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5E20"/>
                </a:solidFill>
                <a:latin typeface="Segoe UI"/>
              </a:defRPr>
            </a:pPr>
            <a:r>
              <a:t>→ Lắng nghe feedback → Cải tiến sản phẩm → Sản phẩm tốt hơn cho các bạn!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FFFFF"/>
            </a:gs>
            <a:gs pos="100000">
              <a:srgbClr val="FFF3E0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B5E20"/>
                </a:solidFill>
                <a:latin typeface="Segoe UI"/>
              </a:defRPr>
            </a:pPr>
            <a:r>
              <a:t>5️⃣  Tác động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560320" cy="2560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333333"/>
                </a:solidFill>
                <a:latin typeface="Segoe UI"/>
              </a:defRPr>
            </a:pPr>
            <a:r>
              <a:t>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5E20"/>
                </a:solidFill>
                <a:latin typeface="Segoe UI"/>
              </a:defRPr>
            </a:pPr>
            <a:r>
              <a:t>Không còn sợ Toán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8346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Segoe UI"/>
              </a:defRPr>
            </a:pPr>
            <a:r>
              <a:t>Luôn có bạn Sprout giúp đỡ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371600"/>
            <a:ext cx="2560320" cy="2560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15544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333333"/>
                </a:solidFill>
                <a:latin typeface="Segoe UI"/>
              </a:defRPr>
            </a:pPr>
            <a:r>
              <a:t>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286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5E20"/>
                </a:solidFill>
                <a:latin typeface="Segoe UI"/>
              </a:defRPr>
            </a:pPr>
            <a:r>
              <a:t>Học giỏi hơn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8346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Segoe UI"/>
              </a:defRPr>
            </a:pPr>
            <a:r>
              <a:t>Luyện đúng vào điểm yếu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371600"/>
            <a:ext cx="2560320" cy="2560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5544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333333"/>
                </a:solidFill>
                <a:latin typeface="Segoe UI"/>
              </a:defRPr>
            </a:pPr>
            <a:r>
              <a:t>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86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5E20"/>
                </a:solidFill>
                <a:latin typeface="Segoe UI"/>
              </a:defRPr>
            </a:pPr>
            <a:r>
              <a:t>Tự học khi bố mẹ bận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8346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Segoe UI"/>
              </a:defRPr>
            </a:pPr>
            <a:r>
              <a:t>Không phải đợi ai cả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0" y="1371600"/>
            <a:ext cx="2560320" cy="25603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15544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333333"/>
                </a:solidFill>
                <a:latin typeface="Segoe UI"/>
              </a:defRPr>
            </a:pPr>
            <a:r>
              <a:t>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2286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B5E20"/>
                </a:solidFill>
                <a:latin typeface="Segoe UI"/>
              </a:defRPr>
            </a:pPr>
            <a:r>
              <a:t>Học Toán thật vui!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8346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Segoe UI"/>
              </a:defRPr>
            </a:pPr>
            <a:r>
              <a:t>Gamification + Rewards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86000" y="4389120"/>
            <a:ext cx="7589520" cy="1371600"/>
          </a:xfrm>
          <a:prstGeom prst="round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0" y="4572000"/>
            <a:ext cx="7589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🌟 "10 phút mỗi ngày — Tiến bộ lớn cả năm!" 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8F5E9"/>
            </a:gs>
            <a:gs pos="100000">
              <a:srgbClr val="C8E6C9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1B5E20"/>
                </a:solidFill>
                <a:latin typeface="Segoe UI"/>
              </a:defRPr>
            </a:pPr>
            <a:r>
              <a:t>6️⃣  Ý kiến học sinh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1371600"/>
            <a:ext cx="9418320" cy="4114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64592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B5E20"/>
                </a:solidFill>
                <a:latin typeface="Segoe UI"/>
              </a:defRPr>
            </a:pPr>
            <a:r>
              <a:t>"Em rất tự hào về dự án này, vì đây là sản phẩm em tự nghĩ ra</a:t>
            </a:r>
            <a:br/>
            <a:r>
              <a:t>từ chính khó khăn của em khi học Toán."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74320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333333"/>
                </a:solidFill>
                <a:latin typeface="Segoe UI"/>
              </a:defRPr>
            </a:pPr>
            <a:r>
              <a:t>"Em mong rằng MathSprout sẽ giúp được thật nhiều bạn nhỏ</a:t>
            </a:r>
            <a:br/>
            <a:r>
              <a:t>ở Việt Nam yêu thích môn Toán hơn."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84048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6F00"/>
                </a:solidFill>
                <a:latin typeface="Segoe UI"/>
              </a:defRPr>
            </a:pPr>
            <a:r>
              <a:t>"Vì khi mình hiểu Toán rồi, mình sẽ thấy Toán...</a:t>
            </a:r>
            <a:br/>
            <a:r>
              <a:t>thật ra rất là vui!" 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5E20"/>
                </a:solidFill>
                <a:latin typeface="Segoe UI"/>
              </a:defRPr>
            </a:pPr>
            <a:r>
              <a:t>✏️ Em đã tự làm: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949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Segoe UI"/>
              </a:defRPr>
            </a:pPr>
            <a:r>
              <a:t>Xác định vấn đề từ trải nghiệm thật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Segoe UI"/>
              </a:defRPr>
            </a:pPr>
            <a:r>
              <a:t>Nghĩ ra ý tưởng + 4 chức năng chính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Segoe UI"/>
              </a:defRPr>
            </a:pPr>
            <a:r>
              <a:t>Viết code, test app, quay video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29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565C0"/>
                </a:solidFill>
                <a:latin typeface="Segoe UI"/>
              </a:defRPr>
            </a:pPr>
            <a:r>
              <a:t>🤖 AI hỗ trợ em (theo quy định):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3949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Segoe UI"/>
              </a:defRPr>
            </a:pPr>
            <a:r>
              <a:t>Giải thích khái niệm khó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Segoe UI"/>
              </a:defRPr>
            </a:pPr>
            <a:r>
              <a:t>Hỗ trợ debug khi code lỗi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Segoe UI"/>
              </a:defRPr>
            </a:pPr>
            <a:r>
              <a:t>AI là công cụ, không thay em tư duy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E8F5E9"/>
            </a:gs>
            <a:gs pos="100000">
              <a:srgbClr val="A5D6A7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9144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0">
                <a:solidFill>
                  <a:srgbClr val="333333"/>
                </a:solidFill>
                <a:latin typeface="Segoe UI"/>
              </a:defRPr>
            </a:pPr>
            <a:r>
              <a:t>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B5E20"/>
                </a:solidFill>
                <a:latin typeface="Segoe UI"/>
              </a:defRPr>
            </a:pPr>
            <a:r>
              <a:t>Cảm ơn ban giám khảo</a:t>
            </a:r>
            <a:br/>
            <a:r>
              <a:t>và các thầy cô đã lắng nghe ạ!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7472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333333"/>
                </a:solidFill>
                <a:latin typeface="Segoe UI"/>
              </a:defRPr>
            </a:pPr>
            <a:r>
              <a:t>Trần Nhật Minh — Lớp 2 — V-school Ocean Park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E7D32"/>
                </a:solidFill>
                <a:latin typeface="Segoe UI"/>
              </a:defRPr>
            </a:pPr>
            <a:r>
              <a:t>STEMFEST 2026 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4846320"/>
            <a:ext cx="6675120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5029200"/>
            <a:ext cx="6126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1B5E20"/>
                </a:solidFill>
                <a:latin typeface="Segoe UI"/>
              </a:defRPr>
            </a:pPr>
            <a:r>
              <a:t>"A small sprout today, a big tree tomorrow."</a:t>
            </a:r>
            <a:br/>
            <a:r>
              <a:t>Một mầm cây nhỏ hôm nay — Một cây lớn ngày mai.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